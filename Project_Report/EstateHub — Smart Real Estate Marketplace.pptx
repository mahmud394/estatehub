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Open Sans" panose="020B0606030504020204" pitchFamily="34" charset="0"/>
      <p:regular r:id="rId10"/>
    </p:embeddedFont>
    <p:embeddedFont>
      <p:font typeface="Open Sans Bold" panose="020B0604020202020204" charset="0"/>
      <p:regular r:id="rId11"/>
    </p:embeddedFont>
    <p:embeddedFont>
      <p:font typeface="Poppins" panose="00000500000000000000" pitchFamily="2" charset="0"/>
      <p:regular r:id="rId12"/>
    </p:embeddedFont>
    <p:embeddedFont>
      <p:font typeface="Poppins Bold"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0" d="100"/>
          <a:sy n="70" d="100"/>
        </p:scale>
        <p:origin x="528"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03-Oct-26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03-Oct-26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03-Oct-26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03-Oct-26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03-Oct-26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03-Oct-26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03-Oct-26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03-Oct-26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03-Oct-26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7.svg"/><Relationship Id="rId1" Type="http://schemas.openxmlformats.org/officeDocument/2006/relationships/slideLayout" Target="../slideLayouts/slideLayout7.xml"/><Relationship Id="rId4" Type="http://schemas.openxmlformats.org/officeDocument/2006/relationships/image" Target="../media/image8.sv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jpe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Freeform 2"/>
          <p:cNvSpPr/>
          <p:nvPr/>
        </p:nvSpPr>
        <p:spPr>
          <a:xfrm rot="-1368171">
            <a:off x="2874625" y="405124"/>
            <a:ext cx="8325708" cy="7947266"/>
          </a:xfrm>
          <a:custGeom>
            <a:avLst/>
            <a:gdLst/>
            <a:ahLst/>
            <a:cxnLst/>
            <a:rect l="l" t="t" r="r" b="b"/>
            <a:pathLst>
              <a:path w="8325708" h="7947266">
                <a:moveTo>
                  <a:pt x="0" y="0"/>
                </a:moveTo>
                <a:lnTo>
                  <a:pt x="8325707" y="0"/>
                </a:lnTo>
                <a:lnTo>
                  <a:pt x="8325707" y="7947267"/>
                </a:lnTo>
                <a:lnTo>
                  <a:pt x="0" y="7947267"/>
                </a:lnTo>
                <a:lnTo>
                  <a:pt x="0" y="0"/>
                </a:lnTo>
                <a:close/>
              </a:path>
            </a:pathLst>
          </a:custGeom>
          <a:blipFill>
            <a:blip>
              <a:alphaModFix amt="8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1018686" y="-1631989"/>
            <a:ext cx="9460517" cy="946051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11155667" y="2125663"/>
            <a:ext cx="6791321" cy="6791321"/>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7517" r="-55815"/>
              </a:stretch>
            </a:blipFill>
          </p:spPr>
        </p:sp>
      </p:grpSp>
      <p:grpSp>
        <p:nvGrpSpPr>
          <p:cNvPr id="8" name="Group 8"/>
          <p:cNvGrpSpPr/>
          <p:nvPr/>
        </p:nvGrpSpPr>
        <p:grpSpPr>
          <a:xfrm>
            <a:off x="-844289" y="8822784"/>
            <a:ext cx="7425704" cy="7425704"/>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2728668" y="-2824047"/>
            <a:ext cx="3852747" cy="3852747"/>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15628197" y="-2170445"/>
            <a:ext cx="4637582" cy="4114800"/>
          </a:xfrm>
          <a:custGeom>
            <a:avLst/>
            <a:gdLst/>
            <a:ahLst/>
            <a:cxnLst/>
            <a:rect l="l" t="t" r="r" b="b"/>
            <a:pathLst>
              <a:path w="4637582" h="4114800">
                <a:moveTo>
                  <a:pt x="0" y="0"/>
                </a:moveTo>
                <a:lnTo>
                  <a:pt x="4637582" y="0"/>
                </a:lnTo>
                <a:lnTo>
                  <a:pt x="4637582"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5" name="Freeform 15"/>
          <p:cNvSpPr/>
          <p:nvPr/>
        </p:nvSpPr>
        <p:spPr>
          <a:xfrm>
            <a:off x="1372000" y="8677424"/>
            <a:ext cx="4637582" cy="4114800"/>
          </a:xfrm>
          <a:custGeom>
            <a:avLst/>
            <a:gdLst/>
            <a:ahLst/>
            <a:cxnLst/>
            <a:rect l="l" t="t" r="r" b="b"/>
            <a:pathLst>
              <a:path w="4637582" h="4114800">
                <a:moveTo>
                  <a:pt x="0" y="0"/>
                </a:moveTo>
                <a:lnTo>
                  <a:pt x="4637582" y="0"/>
                </a:lnTo>
                <a:lnTo>
                  <a:pt x="4637582"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6" name="Freeform 16"/>
          <p:cNvSpPr/>
          <p:nvPr/>
        </p:nvSpPr>
        <p:spPr>
          <a:xfrm>
            <a:off x="3909856" y="-3086100"/>
            <a:ext cx="4637582" cy="4114800"/>
          </a:xfrm>
          <a:custGeom>
            <a:avLst/>
            <a:gdLst/>
            <a:ahLst/>
            <a:cxnLst/>
            <a:rect l="l" t="t" r="r" b="b"/>
            <a:pathLst>
              <a:path w="4637582" h="4114800">
                <a:moveTo>
                  <a:pt x="0" y="0"/>
                </a:moveTo>
                <a:lnTo>
                  <a:pt x="4637582" y="0"/>
                </a:lnTo>
                <a:lnTo>
                  <a:pt x="4637582"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grpSp>
        <p:nvGrpSpPr>
          <p:cNvPr id="17" name="Group 17"/>
          <p:cNvGrpSpPr/>
          <p:nvPr/>
        </p:nvGrpSpPr>
        <p:grpSpPr>
          <a:xfrm>
            <a:off x="1372000" y="5532638"/>
            <a:ext cx="7344135" cy="3067486"/>
            <a:chOff x="0" y="0"/>
            <a:chExt cx="9792180" cy="4089981"/>
          </a:xfrm>
        </p:grpSpPr>
        <p:grpSp>
          <p:nvGrpSpPr>
            <p:cNvPr id="18" name="Group 18"/>
            <p:cNvGrpSpPr/>
            <p:nvPr/>
          </p:nvGrpSpPr>
          <p:grpSpPr>
            <a:xfrm>
              <a:off x="0" y="0"/>
              <a:ext cx="9792180" cy="4089981"/>
              <a:chOff x="0" y="0"/>
              <a:chExt cx="1511139" cy="631170"/>
            </a:xfrm>
          </p:grpSpPr>
          <p:sp>
            <p:nvSpPr>
              <p:cNvPr id="19" name="Freeform 19"/>
              <p:cNvSpPr/>
              <p:nvPr/>
            </p:nvSpPr>
            <p:spPr>
              <a:xfrm>
                <a:off x="0" y="0"/>
                <a:ext cx="1511139" cy="631170"/>
              </a:xfrm>
              <a:custGeom>
                <a:avLst/>
                <a:gdLst/>
                <a:ahLst/>
                <a:cxnLst/>
                <a:rect l="l" t="t" r="r" b="b"/>
                <a:pathLst>
                  <a:path w="1511139" h="631170">
                    <a:moveTo>
                      <a:pt x="82357" y="0"/>
                    </a:moveTo>
                    <a:lnTo>
                      <a:pt x="1428782" y="0"/>
                    </a:lnTo>
                    <a:cubicBezTo>
                      <a:pt x="1474267" y="0"/>
                      <a:pt x="1511139" y="36872"/>
                      <a:pt x="1511139" y="82357"/>
                    </a:cubicBezTo>
                    <a:lnTo>
                      <a:pt x="1511139" y="548813"/>
                    </a:lnTo>
                    <a:cubicBezTo>
                      <a:pt x="1511139" y="594298"/>
                      <a:pt x="1474267" y="631170"/>
                      <a:pt x="1428782" y="631170"/>
                    </a:cubicBezTo>
                    <a:lnTo>
                      <a:pt x="82357" y="631170"/>
                    </a:lnTo>
                    <a:cubicBezTo>
                      <a:pt x="36872" y="631170"/>
                      <a:pt x="0" y="594298"/>
                      <a:pt x="0" y="548813"/>
                    </a:cubicBezTo>
                    <a:lnTo>
                      <a:pt x="0" y="82357"/>
                    </a:lnTo>
                    <a:cubicBezTo>
                      <a:pt x="0" y="36872"/>
                      <a:pt x="36872" y="0"/>
                      <a:pt x="82357" y="0"/>
                    </a:cubicBezTo>
                    <a:close/>
                  </a:path>
                </a:pathLst>
              </a:custGeom>
              <a:solidFill>
                <a:srgbClr val="004AAD"/>
              </a:solidFill>
            </p:spPr>
          </p:sp>
          <p:sp>
            <p:nvSpPr>
              <p:cNvPr id="20" name="TextBox 20"/>
              <p:cNvSpPr txBox="1"/>
              <p:nvPr/>
            </p:nvSpPr>
            <p:spPr>
              <a:xfrm>
                <a:off x="0" y="-38100"/>
                <a:ext cx="1511139" cy="669270"/>
              </a:xfrm>
              <a:prstGeom prst="rect">
                <a:avLst/>
              </a:prstGeom>
            </p:spPr>
            <p:txBody>
              <a:bodyPr lIns="50800" tIns="50800" rIns="50800" bIns="50800" rtlCol="0" anchor="ctr"/>
              <a:lstStyle/>
              <a:p>
                <a:pPr algn="ctr">
                  <a:lnSpc>
                    <a:spcPts val="2659"/>
                  </a:lnSpc>
                  <a:spcBef>
                    <a:spcPct val="0"/>
                  </a:spcBef>
                </a:pPr>
                <a:endParaRPr/>
              </a:p>
            </p:txBody>
          </p:sp>
        </p:grpSp>
        <p:sp>
          <p:nvSpPr>
            <p:cNvPr id="21" name="TextBox 21"/>
            <p:cNvSpPr txBox="1"/>
            <p:nvPr/>
          </p:nvSpPr>
          <p:spPr>
            <a:xfrm>
              <a:off x="224929" y="-69199"/>
              <a:ext cx="9342321" cy="4095029"/>
            </a:xfrm>
            <a:prstGeom prst="rect">
              <a:avLst/>
            </a:prstGeom>
          </p:spPr>
          <p:txBody>
            <a:bodyPr lIns="0" tIns="0" rIns="0" bIns="0" rtlCol="0" anchor="t">
              <a:spAutoFit/>
            </a:bodyPr>
            <a:lstStyle/>
            <a:p>
              <a:pPr algn="ctr">
                <a:lnSpc>
                  <a:spcPts val="6128"/>
                </a:lnSpc>
              </a:pPr>
              <a:r>
                <a:rPr lang="en-US" sz="4377" b="1">
                  <a:solidFill>
                    <a:srgbClr val="F4F6FC"/>
                  </a:solidFill>
                  <a:latin typeface="Poppins Bold"/>
                  <a:ea typeface="Poppins Bold"/>
                  <a:cs typeface="Poppins Bold"/>
                  <a:sym typeface="Poppins Bold"/>
                </a:rPr>
                <a:t>PROJECT PRESENTATION</a:t>
              </a:r>
            </a:p>
            <a:p>
              <a:pPr algn="ctr">
                <a:lnSpc>
                  <a:spcPts val="6128"/>
                </a:lnSpc>
              </a:pPr>
              <a:r>
                <a:rPr lang="en-US" sz="4377" b="1">
                  <a:solidFill>
                    <a:srgbClr val="F4F6FC"/>
                  </a:solidFill>
                  <a:latin typeface="Poppins Bold"/>
                  <a:ea typeface="Poppins Bold"/>
                  <a:cs typeface="Poppins Bold"/>
                  <a:sym typeface="Poppins Bold"/>
                </a:rPr>
                <a:t>232-35-394</a:t>
              </a:r>
            </a:p>
            <a:p>
              <a:pPr algn="ctr">
                <a:lnSpc>
                  <a:spcPts val="6128"/>
                </a:lnSpc>
              </a:pPr>
              <a:r>
                <a:rPr lang="en-US" sz="4377" b="1">
                  <a:solidFill>
                    <a:srgbClr val="F4F6FC"/>
                  </a:solidFill>
                  <a:latin typeface="Poppins Bold"/>
                  <a:ea typeface="Poppins Bold"/>
                  <a:cs typeface="Poppins Bold"/>
                  <a:sym typeface="Poppins Bold"/>
                </a:rPr>
                <a:t>232-35-259</a:t>
              </a:r>
            </a:p>
            <a:p>
              <a:pPr algn="ctr">
                <a:lnSpc>
                  <a:spcPts val="6128"/>
                </a:lnSpc>
              </a:pPr>
              <a:r>
                <a:rPr lang="en-US" sz="4377" b="1">
                  <a:solidFill>
                    <a:srgbClr val="F4F6FC"/>
                  </a:solidFill>
                  <a:latin typeface="Poppins Bold"/>
                  <a:ea typeface="Poppins Bold"/>
                  <a:cs typeface="Poppins Bold"/>
                  <a:sym typeface="Poppins Bold"/>
                </a:rPr>
                <a:t>232-35-529</a:t>
              </a:r>
            </a:p>
          </p:txBody>
        </p:sp>
      </p:grpSp>
      <p:sp>
        <p:nvSpPr>
          <p:cNvPr id="22" name="TextBox 22"/>
          <p:cNvSpPr txBox="1"/>
          <p:nvPr/>
        </p:nvSpPr>
        <p:spPr>
          <a:xfrm>
            <a:off x="1372000" y="2135188"/>
            <a:ext cx="11330958" cy="3240343"/>
          </a:xfrm>
          <a:prstGeom prst="rect">
            <a:avLst/>
          </a:prstGeom>
        </p:spPr>
        <p:txBody>
          <a:bodyPr lIns="0" tIns="0" rIns="0" bIns="0" rtlCol="0" anchor="t">
            <a:spAutoFit/>
          </a:bodyPr>
          <a:lstStyle/>
          <a:p>
            <a:pPr algn="l">
              <a:lnSpc>
                <a:spcPts val="8318"/>
              </a:lnSpc>
            </a:pPr>
            <a:r>
              <a:rPr lang="en-US" sz="7631" b="1">
                <a:solidFill>
                  <a:srgbClr val="051D40"/>
                </a:solidFill>
                <a:latin typeface="Poppins Bold"/>
                <a:ea typeface="Poppins Bold"/>
                <a:cs typeface="Poppins Bold"/>
                <a:sym typeface="Poppins Bold"/>
              </a:rPr>
              <a:t>ESTATEHUB —  </a:t>
            </a:r>
          </a:p>
          <a:p>
            <a:pPr algn="l">
              <a:lnSpc>
                <a:spcPts val="8318"/>
              </a:lnSpc>
            </a:pPr>
            <a:r>
              <a:rPr lang="en-US" sz="7631" b="1">
                <a:solidFill>
                  <a:srgbClr val="051D40"/>
                </a:solidFill>
                <a:latin typeface="Poppins Bold"/>
                <a:ea typeface="Poppins Bold"/>
                <a:cs typeface="Poppins Bold"/>
                <a:sym typeface="Poppins Bold"/>
              </a:rPr>
              <a:t>SMART REAL ESTATE MARKETPLACE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grpSp>
        <p:nvGrpSpPr>
          <p:cNvPr id="2" name="Group 2"/>
          <p:cNvGrpSpPr/>
          <p:nvPr/>
        </p:nvGrpSpPr>
        <p:grpSpPr>
          <a:xfrm>
            <a:off x="-4538771" y="-249641"/>
            <a:ext cx="10786283" cy="10786283"/>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2545393" y="1028700"/>
            <a:ext cx="3833305" cy="8229600"/>
            <a:chOff x="0" y="0"/>
            <a:chExt cx="593879" cy="1274980"/>
          </a:xfrm>
        </p:grpSpPr>
        <p:sp>
          <p:nvSpPr>
            <p:cNvPr id="6" name="Freeform 6"/>
            <p:cNvSpPr/>
            <p:nvPr/>
          </p:nvSpPr>
          <p:spPr>
            <a:xfrm>
              <a:off x="0" y="0"/>
              <a:ext cx="593879" cy="1274980"/>
            </a:xfrm>
            <a:custGeom>
              <a:avLst/>
              <a:gdLst/>
              <a:ahLst/>
              <a:cxnLst/>
              <a:rect l="l" t="t" r="r" b="b"/>
              <a:pathLst>
                <a:path w="593879" h="1274980">
                  <a:moveTo>
                    <a:pt x="201965" y="0"/>
                  </a:moveTo>
                  <a:lnTo>
                    <a:pt x="391915" y="0"/>
                  </a:lnTo>
                  <a:cubicBezTo>
                    <a:pt x="503457" y="0"/>
                    <a:pt x="593879" y="90423"/>
                    <a:pt x="593879" y="201965"/>
                  </a:cubicBezTo>
                  <a:lnTo>
                    <a:pt x="593879" y="1073016"/>
                  </a:lnTo>
                  <a:cubicBezTo>
                    <a:pt x="593879" y="1126580"/>
                    <a:pt x="572601" y="1177951"/>
                    <a:pt x="534725" y="1215826"/>
                  </a:cubicBezTo>
                  <a:cubicBezTo>
                    <a:pt x="496850" y="1253702"/>
                    <a:pt x="445479" y="1274980"/>
                    <a:pt x="391915" y="1274980"/>
                  </a:cubicBezTo>
                  <a:lnTo>
                    <a:pt x="201965" y="1274980"/>
                  </a:lnTo>
                  <a:cubicBezTo>
                    <a:pt x="90423" y="1274980"/>
                    <a:pt x="0" y="1184558"/>
                    <a:pt x="0" y="1073016"/>
                  </a:cubicBezTo>
                  <a:lnTo>
                    <a:pt x="0" y="201965"/>
                  </a:lnTo>
                  <a:cubicBezTo>
                    <a:pt x="0" y="90423"/>
                    <a:pt x="90423" y="0"/>
                    <a:pt x="201965" y="0"/>
                  </a:cubicBezTo>
                  <a:close/>
                </a:path>
              </a:pathLst>
            </a:custGeom>
            <a:blipFill>
              <a:blip r:embed="rId2"/>
              <a:stretch>
                <a:fillRect l="-21627" r="-21627"/>
              </a:stretch>
            </a:blipFill>
          </p:spPr>
        </p:sp>
      </p:grpSp>
      <p:sp>
        <p:nvSpPr>
          <p:cNvPr id="7" name="Freeform 7"/>
          <p:cNvSpPr/>
          <p:nvPr/>
        </p:nvSpPr>
        <p:spPr>
          <a:xfrm rot="-1368171">
            <a:off x="8138760" y="3002675"/>
            <a:ext cx="8325708" cy="7947266"/>
          </a:xfrm>
          <a:custGeom>
            <a:avLst/>
            <a:gdLst/>
            <a:ahLst/>
            <a:cxnLst/>
            <a:rect l="l" t="t" r="r" b="b"/>
            <a:pathLst>
              <a:path w="8325708" h="7947266">
                <a:moveTo>
                  <a:pt x="0" y="0"/>
                </a:moveTo>
                <a:lnTo>
                  <a:pt x="8325708" y="0"/>
                </a:lnTo>
                <a:lnTo>
                  <a:pt x="8325708" y="7947267"/>
                </a:lnTo>
                <a:lnTo>
                  <a:pt x="0" y="7947267"/>
                </a:lnTo>
                <a:lnTo>
                  <a:pt x="0" y="0"/>
                </a:lnTo>
                <a:close/>
              </a:path>
            </a:pathLst>
          </a:custGeom>
          <a:blipFill>
            <a:blip>
              <a:alphaModFix amt="8999"/>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17354291" y="-499283"/>
            <a:ext cx="10786283" cy="1078628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1" name="Freeform 11"/>
          <p:cNvSpPr/>
          <p:nvPr/>
        </p:nvSpPr>
        <p:spPr>
          <a:xfrm rot="5400000">
            <a:off x="-4080554" y="3955733"/>
            <a:ext cx="10536641" cy="2375534"/>
          </a:xfrm>
          <a:custGeom>
            <a:avLst/>
            <a:gdLst/>
            <a:ahLst/>
            <a:cxnLst/>
            <a:rect l="l" t="t" r="r" b="b"/>
            <a:pathLst>
              <a:path w="10536641" h="2375534">
                <a:moveTo>
                  <a:pt x="0" y="0"/>
                </a:moveTo>
                <a:lnTo>
                  <a:pt x="10536642" y="0"/>
                </a:lnTo>
                <a:lnTo>
                  <a:pt x="10536642" y="2375534"/>
                </a:lnTo>
                <a:lnTo>
                  <a:pt x="0" y="2375534"/>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2" name="Freeform 12"/>
          <p:cNvSpPr/>
          <p:nvPr/>
        </p:nvSpPr>
        <p:spPr>
          <a:xfrm>
            <a:off x="17354291" y="4480324"/>
            <a:ext cx="4637582" cy="4114800"/>
          </a:xfrm>
          <a:custGeom>
            <a:avLst/>
            <a:gdLst/>
            <a:ahLst/>
            <a:cxnLst/>
            <a:rect l="l" t="t" r="r" b="b"/>
            <a:pathLst>
              <a:path w="4637582" h="4114800">
                <a:moveTo>
                  <a:pt x="0" y="0"/>
                </a:moveTo>
                <a:lnTo>
                  <a:pt x="4637582" y="0"/>
                </a:lnTo>
                <a:lnTo>
                  <a:pt x="4637582"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3" name="TextBox 13"/>
          <p:cNvSpPr txBox="1"/>
          <p:nvPr/>
        </p:nvSpPr>
        <p:spPr>
          <a:xfrm>
            <a:off x="10553275" y="1179427"/>
            <a:ext cx="6581941" cy="1760255"/>
          </a:xfrm>
          <a:prstGeom prst="rect">
            <a:avLst/>
          </a:prstGeom>
        </p:spPr>
        <p:txBody>
          <a:bodyPr lIns="0" tIns="0" rIns="0" bIns="0" rtlCol="0" anchor="t">
            <a:spAutoFit/>
          </a:bodyPr>
          <a:lstStyle/>
          <a:p>
            <a:pPr algn="r">
              <a:lnSpc>
                <a:spcPts val="6606"/>
              </a:lnSpc>
            </a:pPr>
            <a:r>
              <a:rPr lang="en-US" sz="6061" b="1">
                <a:solidFill>
                  <a:srgbClr val="051D40"/>
                </a:solidFill>
                <a:latin typeface="Poppins Bold"/>
                <a:ea typeface="Poppins Bold"/>
                <a:cs typeface="Poppins Bold"/>
                <a:sym typeface="Poppins Bold"/>
              </a:rPr>
              <a:t>PROJECT INTRODUCTION</a:t>
            </a:r>
          </a:p>
        </p:txBody>
      </p:sp>
      <p:sp>
        <p:nvSpPr>
          <p:cNvPr id="14" name="TextBox 14"/>
          <p:cNvSpPr txBox="1"/>
          <p:nvPr/>
        </p:nvSpPr>
        <p:spPr>
          <a:xfrm>
            <a:off x="7873865" y="3476151"/>
            <a:ext cx="9261351" cy="4560625"/>
          </a:xfrm>
          <a:prstGeom prst="rect">
            <a:avLst/>
          </a:prstGeom>
        </p:spPr>
        <p:txBody>
          <a:bodyPr lIns="0" tIns="0" rIns="0" bIns="0" rtlCol="0" anchor="t">
            <a:spAutoFit/>
          </a:bodyPr>
          <a:lstStyle/>
          <a:p>
            <a:pPr algn="l">
              <a:lnSpc>
                <a:spcPts val="4056"/>
              </a:lnSpc>
            </a:pPr>
            <a:r>
              <a:rPr lang="en-US" sz="2897">
                <a:solidFill>
                  <a:srgbClr val="051D40"/>
                </a:solidFill>
                <a:latin typeface="Poppins"/>
                <a:ea typeface="Poppins"/>
                <a:cs typeface="Poppins"/>
                <a:sym typeface="Poppins"/>
              </a:rPr>
              <a:t>EstateHub is an AI-powered real estate platform that helps clients find suitable properties and connects them with brokers. Clients can search properties by location, price, size, and type, while brokers can post and manage property listings. The AI assistant understands client requirements in natural language and recommends matching or similar properties from the available database.</a:t>
            </a:r>
          </a:p>
          <a:p>
            <a:pPr algn="l">
              <a:lnSpc>
                <a:spcPts val="3496"/>
              </a:lnSpc>
            </a:pPr>
            <a:endParaRPr lang="en-US" sz="2897">
              <a:solidFill>
                <a:srgbClr val="051D4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grpSp>
        <p:nvGrpSpPr>
          <p:cNvPr id="2" name="Group 2"/>
          <p:cNvGrpSpPr/>
          <p:nvPr/>
        </p:nvGrpSpPr>
        <p:grpSpPr>
          <a:xfrm>
            <a:off x="-3701559" y="5143500"/>
            <a:ext cx="9460517" cy="946051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3557741" y="-7145674"/>
            <a:ext cx="9460517" cy="946051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1028700" y="3719897"/>
            <a:ext cx="5538403" cy="5538403"/>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t="-37518" b="-12345"/>
              </a:stretch>
            </a:blipFill>
          </p:spPr>
        </p:sp>
      </p:grpSp>
      <p:sp>
        <p:nvSpPr>
          <p:cNvPr id="10" name="Freeform 10"/>
          <p:cNvSpPr/>
          <p:nvPr/>
        </p:nvSpPr>
        <p:spPr>
          <a:xfrm rot="-1368171">
            <a:off x="9756386" y="3847826"/>
            <a:ext cx="8325708" cy="7947266"/>
          </a:xfrm>
          <a:custGeom>
            <a:avLst/>
            <a:gdLst/>
            <a:ahLst/>
            <a:cxnLst/>
            <a:rect l="l" t="t" r="r" b="b"/>
            <a:pathLst>
              <a:path w="8325708" h="7947266">
                <a:moveTo>
                  <a:pt x="0" y="0"/>
                </a:moveTo>
                <a:lnTo>
                  <a:pt x="8325708" y="0"/>
                </a:lnTo>
                <a:lnTo>
                  <a:pt x="8325708" y="7947266"/>
                </a:lnTo>
                <a:lnTo>
                  <a:pt x="0" y="7947266"/>
                </a:lnTo>
                <a:lnTo>
                  <a:pt x="0" y="0"/>
                </a:lnTo>
                <a:close/>
              </a:path>
            </a:pathLst>
          </a:custGeom>
          <a:blipFill>
            <a:blip>
              <a:alphaModFix amt="8999"/>
              <a:extLst>
                <a:ext uri="{96DAC541-7B7A-43D3-8B79-37D633B846F1}">
                  <asvg:svgBlip xmlns:asvg="http://schemas.microsoft.com/office/drawing/2016/SVG/main" r:embed="rId3"/>
                </a:ext>
              </a:extLst>
            </a:blip>
            <a:stretch>
              <a:fillRect/>
            </a:stretch>
          </a:blipFill>
        </p:spPr>
      </p:sp>
      <p:sp>
        <p:nvSpPr>
          <p:cNvPr id="11" name="Freeform 11"/>
          <p:cNvSpPr/>
          <p:nvPr/>
        </p:nvSpPr>
        <p:spPr>
          <a:xfrm>
            <a:off x="16181485" y="-1450422"/>
            <a:ext cx="5224933" cy="4635940"/>
          </a:xfrm>
          <a:custGeom>
            <a:avLst/>
            <a:gdLst/>
            <a:ahLst/>
            <a:cxnLst/>
            <a:rect l="l" t="t" r="r" b="b"/>
            <a:pathLst>
              <a:path w="5224933" h="4635940">
                <a:moveTo>
                  <a:pt x="0" y="0"/>
                </a:moveTo>
                <a:lnTo>
                  <a:pt x="5224932" y="0"/>
                </a:lnTo>
                <a:lnTo>
                  <a:pt x="5224932" y="4635940"/>
                </a:lnTo>
                <a:lnTo>
                  <a:pt x="0" y="4635940"/>
                </a:lnTo>
                <a:lnTo>
                  <a:pt x="0" y="0"/>
                </a:lnTo>
                <a:close/>
              </a:path>
            </a:pathLst>
          </a:custGeom>
          <a:blipFill>
            <a:blip>
              <a:alphaModFix amt="55000"/>
              <a:extLst>
                <a:ext uri="{96DAC541-7B7A-43D3-8B79-37D633B846F1}">
                  <asvg:svgBlip xmlns:asvg="http://schemas.microsoft.com/office/drawing/2016/SVG/main" r:embed="rId4"/>
                </a:ext>
              </a:extLst>
            </a:blip>
            <a:stretch>
              <a:fillRect/>
            </a:stretch>
          </a:blipFill>
        </p:spPr>
      </p:sp>
      <p:sp>
        <p:nvSpPr>
          <p:cNvPr id="12" name="Freeform 12"/>
          <p:cNvSpPr/>
          <p:nvPr/>
        </p:nvSpPr>
        <p:spPr>
          <a:xfrm>
            <a:off x="-3391895" y="3185518"/>
            <a:ext cx="5224933" cy="4635940"/>
          </a:xfrm>
          <a:custGeom>
            <a:avLst/>
            <a:gdLst/>
            <a:ahLst/>
            <a:cxnLst/>
            <a:rect l="l" t="t" r="r" b="b"/>
            <a:pathLst>
              <a:path w="5224933" h="4635940">
                <a:moveTo>
                  <a:pt x="0" y="0"/>
                </a:moveTo>
                <a:lnTo>
                  <a:pt x="5224933" y="0"/>
                </a:lnTo>
                <a:lnTo>
                  <a:pt x="5224933" y="4635941"/>
                </a:lnTo>
                <a:lnTo>
                  <a:pt x="0" y="4635941"/>
                </a:lnTo>
                <a:lnTo>
                  <a:pt x="0" y="0"/>
                </a:lnTo>
                <a:close/>
              </a:path>
            </a:pathLst>
          </a:custGeom>
          <a:blipFill>
            <a:blip>
              <a:alphaModFix amt="56000"/>
              <a:extLst>
                <a:ext uri="{96DAC541-7B7A-43D3-8B79-37D633B846F1}">
                  <asvg:svgBlip xmlns:asvg="http://schemas.microsoft.com/office/drawing/2016/SVG/main" r:embed="rId4"/>
                </a:ext>
              </a:extLst>
            </a:blip>
            <a:stretch>
              <a:fillRect/>
            </a:stretch>
          </a:blipFill>
        </p:spPr>
      </p:sp>
      <p:sp>
        <p:nvSpPr>
          <p:cNvPr id="13" name="Freeform 13"/>
          <p:cNvSpPr/>
          <p:nvPr/>
        </p:nvSpPr>
        <p:spPr>
          <a:xfrm>
            <a:off x="-1475474" y="8294851"/>
            <a:ext cx="7610227" cy="6752346"/>
          </a:xfrm>
          <a:custGeom>
            <a:avLst/>
            <a:gdLst/>
            <a:ahLst/>
            <a:cxnLst/>
            <a:rect l="l" t="t" r="r" b="b"/>
            <a:pathLst>
              <a:path w="7610227" h="6752346">
                <a:moveTo>
                  <a:pt x="0" y="0"/>
                </a:moveTo>
                <a:lnTo>
                  <a:pt x="7610226" y="0"/>
                </a:lnTo>
                <a:lnTo>
                  <a:pt x="7610226" y="6752347"/>
                </a:lnTo>
                <a:lnTo>
                  <a:pt x="0" y="6752347"/>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14" name="TextBox 14"/>
          <p:cNvSpPr txBox="1"/>
          <p:nvPr/>
        </p:nvSpPr>
        <p:spPr>
          <a:xfrm>
            <a:off x="10863530" y="1959641"/>
            <a:ext cx="6111420" cy="1760255"/>
          </a:xfrm>
          <a:prstGeom prst="rect">
            <a:avLst/>
          </a:prstGeom>
        </p:spPr>
        <p:txBody>
          <a:bodyPr lIns="0" tIns="0" rIns="0" bIns="0" rtlCol="0" anchor="t">
            <a:spAutoFit/>
          </a:bodyPr>
          <a:lstStyle/>
          <a:p>
            <a:pPr algn="r">
              <a:lnSpc>
                <a:spcPts val="6606"/>
              </a:lnSpc>
            </a:pPr>
            <a:r>
              <a:rPr lang="en-US" sz="6061" b="1">
                <a:solidFill>
                  <a:srgbClr val="051D40"/>
                </a:solidFill>
                <a:latin typeface="Poppins Bold"/>
                <a:ea typeface="Poppins Bold"/>
                <a:cs typeface="Poppins Bold"/>
                <a:sym typeface="Poppins Bold"/>
              </a:rPr>
              <a:t>PROJECT BACKGROUND</a:t>
            </a:r>
          </a:p>
        </p:txBody>
      </p:sp>
      <p:sp>
        <p:nvSpPr>
          <p:cNvPr id="15" name="TextBox 15"/>
          <p:cNvSpPr txBox="1"/>
          <p:nvPr/>
        </p:nvSpPr>
        <p:spPr>
          <a:xfrm>
            <a:off x="6729329" y="4056429"/>
            <a:ext cx="10245622" cy="3888160"/>
          </a:xfrm>
          <a:prstGeom prst="rect">
            <a:avLst/>
          </a:prstGeom>
        </p:spPr>
        <p:txBody>
          <a:bodyPr lIns="0" tIns="0" rIns="0" bIns="0" rtlCol="0" anchor="t">
            <a:spAutoFit/>
          </a:bodyPr>
          <a:lstStyle/>
          <a:p>
            <a:pPr algn="l">
              <a:lnSpc>
                <a:spcPts val="4336"/>
              </a:lnSpc>
            </a:pPr>
            <a:r>
              <a:rPr lang="en-US" sz="3097">
                <a:solidFill>
                  <a:srgbClr val="051D40"/>
                </a:solidFill>
                <a:latin typeface="Poppins"/>
                <a:ea typeface="Poppins"/>
                <a:cs typeface="Poppins"/>
                <a:sym typeface="Poppins"/>
              </a:rPr>
              <a:t>The real estate sector has many property listings, but finding a suitable property can be time-consuming. Most existing platforms mainly depend on manual search and filters. AI can improve this process by understanding user requirements and providing personalized property recommendations.</a:t>
            </a:r>
          </a:p>
          <a:p>
            <a:pPr algn="l">
              <a:lnSpc>
                <a:spcPts val="4896"/>
              </a:lnSpc>
            </a:pPr>
            <a:endParaRPr lang="en-US" sz="3097">
              <a:solidFill>
                <a:srgbClr val="051D40"/>
              </a:solidFill>
              <a:latin typeface="Poppins"/>
              <a:ea typeface="Poppins"/>
              <a:cs typeface="Poppins"/>
              <a:sym typeface="Poppins"/>
            </a:endParaRPr>
          </a:p>
        </p:txBody>
      </p:sp>
      <p:sp>
        <p:nvSpPr>
          <p:cNvPr id="16" name="Freeform 16"/>
          <p:cNvSpPr/>
          <p:nvPr/>
        </p:nvSpPr>
        <p:spPr>
          <a:xfrm rot="10165856">
            <a:off x="2662051" y="-2415415"/>
            <a:ext cx="5680119" cy="5039815"/>
          </a:xfrm>
          <a:custGeom>
            <a:avLst/>
            <a:gdLst/>
            <a:ahLst/>
            <a:cxnLst/>
            <a:rect l="l" t="t" r="r" b="b"/>
            <a:pathLst>
              <a:path w="5680119" h="5039815">
                <a:moveTo>
                  <a:pt x="0" y="0"/>
                </a:moveTo>
                <a:lnTo>
                  <a:pt x="5680118" y="0"/>
                </a:lnTo>
                <a:lnTo>
                  <a:pt x="5680118" y="5039814"/>
                </a:lnTo>
                <a:lnTo>
                  <a:pt x="0" y="5039814"/>
                </a:lnTo>
                <a:lnTo>
                  <a:pt x="0" y="0"/>
                </a:lnTo>
                <a:close/>
              </a:path>
            </a:pathLst>
          </a:custGeom>
          <a:blipFill>
            <a:blip>
              <a:alphaModFix amt="18999"/>
              <a:extLst>
                <a:ext uri="{96DAC541-7B7A-43D3-8B79-37D633B846F1}">
                  <asvg:svgBlip xmlns:asvg="http://schemas.microsoft.com/office/drawing/2016/SVG/main" r:embed="rId4"/>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Freeform 2"/>
          <p:cNvSpPr/>
          <p:nvPr/>
        </p:nvSpPr>
        <p:spPr>
          <a:xfrm rot="-1368171">
            <a:off x="2537321" y="2532154"/>
            <a:ext cx="8325708" cy="7947266"/>
          </a:xfrm>
          <a:custGeom>
            <a:avLst/>
            <a:gdLst/>
            <a:ahLst/>
            <a:cxnLst/>
            <a:rect l="l" t="t" r="r" b="b"/>
            <a:pathLst>
              <a:path w="8325708" h="7947266">
                <a:moveTo>
                  <a:pt x="0" y="0"/>
                </a:moveTo>
                <a:lnTo>
                  <a:pt x="8325707" y="0"/>
                </a:lnTo>
                <a:lnTo>
                  <a:pt x="8325707" y="7947267"/>
                </a:lnTo>
                <a:lnTo>
                  <a:pt x="0" y="7947267"/>
                </a:lnTo>
                <a:lnTo>
                  <a:pt x="0" y="0"/>
                </a:lnTo>
                <a:close/>
              </a:path>
            </a:pathLst>
          </a:custGeom>
          <a:blipFill>
            <a:blip>
              <a:alphaModFix amt="8999"/>
              <a:extLst>
                <a:ext uri="{96DAC541-7B7A-43D3-8B79-37D633B846F1}">
                  <asvg:svgBlip xmlns:asvg="http://schemas.microsoft.com/office/drawing/2016/SVG/main" r:embed="rId2"/>
                </a:ext>
              </a:extLst>
            </a:blip>
            <a:stretch>
              <a:fillRect/>
            </a:stretch>
          </a:blipFill>
        </p:spPr>
      </p:sp>
      <p:sp>
        <p:nvSpPr>
          <p:cNvPr id="3" name="Freeform 3"/>
          <p:cNvSpPr/>
          <p:nvPr/>
        </p:nvSpPr>
        <p:spPr>
          <a:xfrm rot="5400000">
            <a:off x="-4752727" y="3955733"/>
            <a:ext cx="10536641" cy="2375534"/>
          </a:xfrm>
          <a:custGeom>
            <a:avLst/>
            <a:gdLst/>
            <a:ahLst/>
            <a:cxnLst/>
            <a:rect l="l" t="t" r="r" b="b"/>
            <a:pathLst>
              <a:path w="10536641" h="2375534">
                <a:moveTo>
                  <a:pt x="0" y="0"/>
                </a:moveTo>
                <a:lnTo>
                  <a:pt x="10536642" y="0"/>
                </a:lnTo>
                <a:lnTo>
                  <a:pt x="10536642" y="2375534"/>
                </a:lnTo>
                <a:lnTo>
                  <a:pt x="0" y="2375534"/>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15741242" y="8229600"/>
            <a:ext cx="4637582" cy="4114800"/>
          </a:xfrm>
          <a:custGeom>
            <a:avLst/>
            <a:gdLst/>
            <a:ahLst/>
            <a:cxnLst/>
            <a:rect l="l" t="t" r="r" b="b"/>
            <a:pathLst>
              <a:path w="4637582" h="4114800">
                <a:moveTo>
                  <a:pt x="0" y="0"/>
                </a:moveTo>
                <a:lnTo>
                  <a:pt x="4637582" y="0"/>
                </a:lnTo>
                <a:lnTo>
                  <a:pt x="4637582"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1103660" y="-2865691"/>
            <a:ext cx="4637582" cy="4114800"/>
          </a:xfrm>
          <a:custGeom>
            <a:avLst/>
            <a:gdLst/>
            <a:ahLst/>
            <a:cxnLst/>
            <a:rect l="l" t="t" r="r" b="b"/>
            <a:pathLst>
              <a:path w="4637582" h="4114800">
                <a:moveTo>
                  <a:pt x="0" y="0"/>
                </a:moveTo>
                <a:lnTo>
                  <a:pt x="4637582" y="0"/>
                </a:lnTo>
                <a:lnTo>
                  <a:pt x="4637582"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227431" y="1172909"/>
            <a:ext cx="6111420" cy="922878"/>
          </a:xfrm>
          <a:prstGeom prst="rect">
            <a:avLst/>
          </a:prstGeom>
        </p:spPr>
        <p:txBody>
          <a:bodyPr lIns="0" tIns="0" rIns="0" bIns="0" rtlCol="0" anchor="t">
            <a:spAutoFit/>
          </a:bodyPr>
          <a:lstStyle/>
          <a:p>
            <a:pPr algn="l">
              <a:lnSpc>
                <a:spcPts val="6606"/>
              </a:lnSpc>
            </a:pPr>
            <a:r>
              <a:rPr lang="en-US" sz="6061" b="1">
                <a:solidFill>
                  <a:srgbClr val="051D40"/>
                </a:solidFill>
                <a:latin typeface="Poppins Bold"/>
                <a:ea typeface="Poppins Bold"/>
                <a:cs typeface="Poppins Bold"/>
                <a:sym typeface="Poppins Bold"/>
              </a:rPr>
              <a:t>STAKEHOLDERS</a:t>
            </a:r>
          </a:p>
        </p:txBody>
      </p:sp>
      <p:sp>
        <p:nvSpPr>
          <p:cNvPr id="7" name="TextBox 7"/>
          <p:cNvSpPr txBox="1"/>
          <p:nvPr/>
        </p:nvSpPr>
        <p:spPr>
          <a:xfrm>
            <a:off x="1663899" y="2602119"/>
            <a:ext cx="13199994" cy="5848033"/>
          </a:xfrm>
          <a:prstGeom prst="rect">
            <a:avLst/>
          </a:prstGeom>
        </p:spPr>
        <p:txBody>
          <a:bodyPr lIns="0" tIns="0" rIns="0" bIns="0" rtlCol="0" anchor="t">
            <a:spAutoFit/>
          </a:bodyPr>
          <a:lstStyle/>
          <a:p>
            <a:pPr algn="l">
              <a:lnSpc>
                <a:spcPts val="5805"/>
              </a:lnSpc>
            </a:pPr>
            <a:r>
              <a:rPr lang="en-US" sz="4146" b="1">
                <a:solidFill>
                  <a:srgbClr val="051D40"/>
                </a:solidFill>
                <a:latin typeface="Poppins Bold"/>
                <a:ea typeface="Poppins Bold"/>
                <a:cs typeface="Poppins Bold"/>
                <a:sym typeface="Poppins Bold"/>
              </a:rPr>
              <a:t>Client:</a:t>
            </a:r>
            <a:r>
              <a:rPr lang="en-US" sz="4146">
                <a:solidFill>
                  <a:srgbClr val="051D40"/>
                </a:solidFill>
                <a:latin typeface="Poppins"/>
                <a:ea typeface="Poppins"/>
                <a:cs typeface="Poppins"/>
                <a:sym typeface="Poppins"/>
              </a:rPr>
              <a:t> Searches properties and communicates with brokers.</a:t>
            </a:r>
          </a:p>
          <a:p>
            <a:pPr algn="l">
              <a:lnSpc>
                <a:spcPts val="5805"/>
              </a:lnSpc>
            </a:pPr>
            <a:r>
              <a:rPr lang="en-US" sz="4146" b="1">
                <a:solidFill>
                  <a:srgbClr val="051D40"/>
                </a:solidFill>
                <a:latin typeface="Poppins Bold"/>
                <a:ea typeface="Poppins Bold"/>
                <a:cs typeface="Poppins Bold"/>
                <a:sym typeface="Poppins Bold"/>
              </a:rPr>
              <a:t>Broker:</a:t>
            </a:r>
            <a:r>
              <a:rPr lang="en-US" sz="4146">
                <a:solidFill>
                  <a:srgbClr val="051D40"/>
                </a:solidFill>
                <a:latin typeface="Poppins"/>
                <a:ea typeface="Poppins"/>
                <a:cs typeface="Poppins"/>
                <a:sym typeface="Poppins"/>
              </a:rPr>
              <a:t> Posts and manages property listings and communicates with clients.</a:t>
            </a:r>
          </a:p>
          <a:p>
            <a:pPr algn="l">
              <a:lnSpc>
                <a:spcPts val="5805"/>
              </a:lnSpc>
            </a:pPr>
            <a:r>
              <a:rPr lang="en-US" sz="4146" b="1">
                <a:solidFill>
                  <a:srgbClr val="051D40"/>
                </a:solidFill>
                <a:latin typeface="Poppins Bold"/>
                <a:ea typeface="Poppins Bold"/>
                <a:cs typeface="Poppins Bold"/>
                <a:sym typeface="Poppins Bold"/>
              </a:rPr>
              <a:t>Admin:</a:t>
            </a:r>
            <a:r>
              <a:rPr lang="en-US" sz="4146">
                <a:solidFill>
                  <a:srgbClr val="051D40"/>
                </a:solidFill>
                <a:latin typeface="Poppins"/>
                <a:ea typeface="Poppins"/>
                <a:cs typeface="Poppins"/>
                <a:sym typeface="Poppins"/>
              </a:rPr>
              <a:t> Manages users, brokers, properties, reviews, reports and Maintains and manages the overall platform.</a:t>
            </a:r>
          </a:p>
          <a:p>
            <a:pPr algn="l">
              <a:lnSpc>
                <a:spcPts val="5805"/>
              </a:lnSpc>
            </a:pPr>
            <a:endParaRPr lang="en-US" sz="4146">
              <a:solidFill>
                <a:srgbClr val="051D40"/>
              </a:solidFill>
              <a:latin typeface="Poppins"/>
              <a:ea typeface="Poppins"/>
              <a:cs typeface="Poppins"/>
              <a:sym typeface="Poppi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Freeform 2"/>
          <p:cNvSpPr/>
          <p:nvPr/>
        </p:nvSpPr>
        <p:spPr>
          <a:xfrm>
            <a:off x="11030075" y="-798034"/>
            <a:ext cx="11261636" cy="8558844"/>
          </a:xfrm>
          <a:custGeom>
            <a:avLst/>
            <a:gdLst/>
            <a:ahLst/>
            <a:cxnLst/>
            <a:rect l="l" t="t" r="r" b="b"/>
            <a:pathLst>
              <a:path w="11261636" h="8558844">
                <a:moveTo>
                  <a:pt x="0" y="0"/>
                </a:moveTo>
                <a:lnTo>
                  <a:pt x="11261636" y="0"/>
                </a:lnTo>
                <a:lnTo>
                  <a:pt x="11261636" y="8558844"/>
                </a:lnTo>
                <a:lnTo>
                  <a:pt x="0" y="8558844"/>
                </a:lnTo>
                <a:lnTo>
                  <a:pt x="0" y="0"/>
                </a:lnTo>
                <a:close/>
              </a:path>
            </a:pathLst>
          </a:custGeom>
          <a:blipFill>
            <a:blip>
              <a:alphaModFix amt="12000"/>
              <a:extLst>
                <a:ext uri="{96DAC541-7B7A-43D3-8B79-37D633B846F1}">
                  <asvg:svgBlip xmlns:asvg="http://schemas.microsoft.com/office/drawing/2016/SVG/main" r:embed="rId2"/>
                </a:ext>
              </a:extLst>
            </a:blip>
            <a:stretch>
              <a:fillRect/>
            </a:stretch>
          </a:blipFill>
        </p:spPr>
      </p:sp>
      <p:sp>
        <p:nvSpPr>
          <p:cNvPr id="3" name="Freeform 3"/>
          <p:cNvSpPr/>
          <p:nvPr/>
        </p:nvSpPr>
        <p:spPr>
          <a:xfrm>
            <a:off x="-124244" y="6861499"/>
            <a:ext cx="18536489" cy="4179136"/>
          </a:xfrm>
          <a:custGeom>
            <a:avLst/>
            <a:gdLst/>
            <a:ahLst/>
            <a:cxnLst/>
            <a:rect l="l" t="t" r="r" b="b"/>
            <a:pathLst>
              <a:path w="18536489" h="4179136">
                <a:moveTo>
                  <a:pt x="0" y="0"/>
                </a:moveTo>
                <a:lnTo>
                  <a:pt x="18536488" y="0"/>
                </a:lnTo>
                <a:lnTo>
                  <a:pt x="18536488" y="4179135"/>
                </a:lnTo>
                <a:lnTo>
                  <a:pt x="0" y="417913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4758975" y="8877106"/>
            <a:ext cx="798692" cy="762387"/>
          </a:xfrm>
          <a:custGeom>
            <a:avLst/>
            <a:gdLst/>
            <a:ahLst/>
            <a:cxnLst/>
            <a:rect l="l" t="t" r="r" b="b"/>
            <a:pathLst>
              <a:path w="798692" h="762387">
                <a:moveTo>
                  <a:pt x="0" y="0"/>
                </a:moveTo>
                <a:lnTo>
                  <a:pt x="798692" y="0"/>
                </a:lnTo>
                <a:lnTo>
                  <a:pt x="798692" y="762388"/>
                </a:lnTo>
                <a:lnTo>
                  <a:pt x="0" y="76238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5" name="Freeform 5"/>
          <p:cNvSpPr/>
          <p:nvPr/>
        </p:nvSpPr>
        <p:spPr>
          <a:xfrm>
            <a:off x="12730333" y="8877106"/>
            <a:ext cx="798692" cy="762387"/>
          </a:xfrm>
          <a:custGeom>
            <a:avLst/>
            <a:gdLst/>
            <a:ahLst/>
            <a:cxnLst/>
            <a:rect l="l" t="t" r="r" b="b"/>
            <a:pathLst>
              <a:path w="798692" h="762387">
                <a:moveTo>
                  <a:pt x="0" y="0"/>
                </a:moveTo>
                <a:lnTo>
                  <a:pt x="798692" y="0"/>
                </a:lnTo>
                <a:lnTo>
                  <a:pt x="798692" y="762388"/>
                </a:lnTo>
                <a:lnTo>
                  <a:pt x="0" y="762388"/>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4027987" y="1494272"/>
            <a:ext cx="10493907" cy="922878"/>
          </a:xfrm>
          <a:prstGeom prst="rect">
            <a:avLst/>
          </a:prstGeom>
        </p:spPr>
        <p:txBody>
          <a:bodyPr lIns="0" tIns="0" rIns="0" bIns="0" rtlCol="0" anchor="t">
            <a:spAutoFit/>
          </a:bodyPr>
          <a:lstStyle/>
          <a:p>
            <a:pPr algn="ctr">
              <a:lnSpc>
                <a:spcPts val="6606"/>
              </a:lnSpc>
            </a:pPr>
            <a:r>
              <a:rPr lang="en-US" sz="6061" b="1">
                <a:solidFill>
                  <a:srgbClr val="051D40"/>
                </a:solidFill>
                <a:latin typeface="Poppins Bold"/>
                <a:ea typeface="Poppins Bold"/>
                <a:cs typeface="Poppins Bold"/>
                <a:sym typeface="Poppins Bold"/>
              </a:rPr>
              <a:t>PROJECT REQUIREMENTS</a:t>
            </a:r>
          </a:p>
        </p:txBody>
      </p:sp>
      <p:sp>
        <p:nvSpPr>
          <p:cNvPr id="7" name="TextBox 7"/>
          <p:cNvSpPr txBox="1"/>
          <p:nvPr/>
        </p:nvSpPr>
        <p:spPr>
          <a:xfrm>
            <a:off x="2622584" y="4560330"/>
            <a:ext cx="5071474" cy="3603045"/>
          </a:xfrm>
          <a:prstGeom prst="rect">
            <a:avLst/>
          </a:prstGeom>
        </p:spPr>
        <p:txBody>
          <a:bodyPr lIns="0" tIns="0" rIns="0" bIns="0" rtlCol="0" anchor="t">
            <a:spAutoFit/>
          </a:bodyPr>
          <a:lstStyle/>
          <a:p>
            <a:pPr algn="ctr">
              <a:lnSpc>
                <a:spcPts val="4056"/>
              </a:lnSpc>
            </a:pPr>
            <a:r>
              <a:rPr lang="en-US" sz="2897">
                <a:solidFill>
                  <a:srgbClr val="F4F6FC"/>
                </a:solidFill>
                <a:latin typeface="Poppins"/>
                <a:ea typeface="Poppins"/>
                <a:cs typeface="Poppins"/>
                <a:sym typeface="Poppins"/>
              </a:rPr>
              <a:t>General Objective</a:t>
            </a:r>
          </a:p>
          <a:p>
            <a:pPr algn="ctr">
              <a:lnSpc>
                <a:spcPts val="4056"/>
              </a:lnSpc>
            </a:pPr>
            <a:endParaRPr lang="en-US" sz="2897">
              <a:solidFill>
                <a:srgbClr val="F4F6FC"/>
              </a:solidFill>
              <a:latin typeface="Poppins"/>
              <a:ea typeface="Poppins"/>
              <a:cs typeface="Poppins"/>
              <a:sym typeface="Poppins"/>
            </a:endParaRPr>
          </a:p>
          <a:p>
            <a:pPr algn="ctr">
              <a:lnSpc>
                <a:spcPts val="4056"/>
              </a:lnSpc>
            </a:pPr>
            <a:endParaRPr lang="en-US" sz="2897">
              <a:solidFill>
                <a:srgbClr val="F4F6FC"/>
              </a:solidFill>
              <a:latin typeface="Poppins"/>
              <a:ea typeface="Poppins"/>
              <a:cs typeface="Poppins"/>
              <a:sym typeface="Poppins"/>
            </a:endParaRPr>
          </a:p>
          <a:p>
            <a:pPr algn="l">
              <a:lnSpc>
                <a:spcPts val="4056"/>
              </a:lnSpc>
            </a:pPr>
            <a:r>
              <a:rPr lang="en-US" sz="2897">
                <a:solidFill>
                  <a:srgbClr val="F4F6FC"/>
                </a:solidFill>
                <a:latin typeface="Poppins"/>
                <a:ea typeface="Poppins"/>
                <a:cs typeface="Poppins"/>
                <a:sym typeface="Poppins"/>
              </a:rPr>
              <a:t>To develop a user-friendly real estate platform for searching, posting, and managing properties.</a:t>
            </a:r>
          </a:p>
        </p:txBody>
      </p:sp>
      <p:sp>
        <p:nvSpPr>
          <p:cNvPr id="8" name="Freeform 8"/>
          <p:cNvSpPr/>
          <p:nvPr/>
        </p:nvSpPr>
        <p:spPr>
          <a:xfrm>
            <a:off x="-3762166" y="-798034"/>
            <a:ext cx="11261636" cy="8558844"/>
          </a:xfrm>
          <a:custGeom>
            <a:avLst/>
            <a:gdLst/>
            <a:ahLst/>
            <a:cxnLst/>
            <a:rect l="l" t="t" r="r" b="b"/>
            <a:pathLst>
              <a:path w="11261636" h="8558844">
                <a:moveTo>
                  <a:pt x="0" y="0"/>
                </a:moveTo>
                <a:lnTo>
                  <a:pt x="11261637" y="0"/>
                </a:lnTo>
                <a:lnTo>
                  <a:pt x="11261637" y="8558844"/>
                </a:lnTo>
                <a:lnTo>
                  <a:pt x="0" y="8558844"/>
                </a:lnTo>
                <a:lnTo>
                  <a:pt x="0" y="0"/>
                </a:lnTo>
                <a:close/>
              </a:path>
            </a:pathLst>
          </a:custGeom>
          <a:blipFill>
            <a:blip>
              <a:alphaModFix amt="12000"/>
              <a:extLst>
                <a:ext uri="{96DAC541-7B7A-43D3-8B79-37D633B846F1}">
                  <asvg:svgBlip xmlns:asvg="http://schemas.microsoft.com/office/drawing/2016/SVG/main" r:embed="rId2"/>
                </a:ext>
              </a:extLst>
            </a:blip>
            <a:stretch>
              <a:fillRect/>
            </a:stretch>
          </a:blipFill>
        </p:spPr>
      </p:sp>
      <p:sp>
        <p:nvSpPr>
          <p:cNvPr id="9" name="AutoShape 9"/>
          <p:cNvSpPr/>
          <p:nvPr/>
        </p:nvSpPr>
        <p:spPr>
          <a:xfrm>
            <a:off x="4891298" y="2508422"/>
            <a:ext cx="8505403" cy="0"/>
          </a:xfrm>
          <a:prstGeom prst="line">
            <a:avLst/>
          </a:prstGeom>
          <a:ln w="95250" cap="rnd">
            <a:solidFill>
              <a:srgbClr val="051D40"/>
            </a:solidFill>
            <a:prstDash val="solid"/>
            <a:headEnd type="none" w="sm" len="sm"/>
            <a:tailEnd type="none" w="sm" len="sm"/>
          </a:ln>
        </p:spPr>
      </p:sp>
      <p:sp>
        <p:nvSpPr>
          <p:cNvPr id="10" name="TextBox 10"/>
          <p:cNvSpPr txBox="1"/>
          <p:nvPr/>
        </p:nvSpPr>
        <p:spPr>
          <a:xfrm>
            <a:off x="1439932" y="2904569"/>
            <a:ext cx="15304189" cy="6331907"/>
          </a:xfrm>
          <a:prstGeom prst="rect">
            <a:avLst/>
          </a:prstGeom>
        </p:spPr>
        <p:txBody>
          <a:bodyPr lIns="0" tIns="0" rIns="0" bIns="0" rtlCol="0" anchor="t">
            <a:spAutoFit/>
          </a:bodyPr>
          <a:lstStyle/>
          <a:p>
            <a:pPr marL="700555" lvl="1" indent="-350277" algn="l">
              <a:lnSpc>
                <a:spcPts val="4542"/>
              </a:lnSpc>
              <a:buFont typeface="Arial"/>
              <a:buChar char="•"/>
            </a:pPr>
            <a:r>
              <a:rPr lang="en-US" sz="3244">
                <a:solidFill>
                  <a:srgbClr val="051D40"/>
                </a:solidFill>
                <a:latin typeface="Poppins"/>
                <a:ea typeface="Poppins"/>
                <a:cs typeface="Poppins"/>
                <a:sym typeface="Poppins"/>
              </a:rPr>
              <a:t>The system shall allow clients, brokers, and admins to create and manage accounts.</a:t>
            </a:r>
          </a:p>
          <a:p>
            <a:pPr marL="700555" lvl="1" indent="-350277" algn="l">
              <a:lnSpc>
                <a:spcPts val="4542"/>
              </a:lnSpc>
              <a:buFont typeface="Arial"/>
              <a:buChar char="•"/>
            </a:pPr>
            <a:r>
              <a:rPr lang="en-US" sz="3244">
                <a:solidFill>
                  <a:srgbClr val="051D40"/>
                </a:solidFill>
                <a:latin typeface="Poppins"/>
                <a:ea typeface="Poppins"/>
                <a:cs typeface="Poppins"/>
                <a:sym typeface="Poppins"/>
              </a:rPr>
              <a:t>The system shall allow brokers to add, edit, and delete property listings.</a:t>
            </a:r>
          </a:p>
          <a:p>
            <a:pPr marL="700555" lvl="1" indent="-350277" algn="l">
              <a:lnSpc>
                <a:spcPts val="4542"/>
              </a:lnSpc>
              <a:buFont typeface="Arial"/>
              <a:buChar char="•"/>
            </a:pPr>
            <a:r>
              <a:rPr lang="en-US" sz="3244">
                <a:solidFill>
                  <a:srgbClr val="051D40"/>
                </a:solidFill>
                <a:latin typeface="Poppins"/>
                <a:ea typeface="Poppins"/>
                <a:cs typeface="Poppins"/>
                <a:sym typeface="Poppins"/>
              </a:rPr>
              <a:t>The system shall allow clients to search and filter properties.</a:t>
            </a:r>
          </a:p>
          <a:p>
            <a:pPr marL="700555" lvl="1" indent="-350277" algn="l">
              <a:lnSpc>
                <a:spcPts val="4542"/>
              </a:lnSpc>
              <a:buFont typeface="Arial"/>
              <a:buChar char="•"/>
            </a:pPr>
            <a:r>
              <a:rPr lang="en-US" sz="3244">
                <a:solidFill>
                  <a:srgbClr val="051D40"/>
                </a:solidFill>
                <a:latin typeface="Poppins"/>
                <a:ea typeface="Poppins"/>
                <a:cs typeface="Poppins"/>
                <a:sym typeface="Poppins"/>
              </a:rPr>
              <a:t>The system shall allow clients to comment and message brokers.</a:t>
            </a:r>
          </a:p>
          <a:p>
            <a:pPr marL="700555" lvl="1" indent="-350277" algn="l">
              <a:lnSpc>
                <a:spcPts val="4542"/>
              </a:lnSpc>
              <a:buFont typeface="Arial"/>
              <a:buChar char="•"/>
            </a:pPr>
            <a:r>
              <a:rPr lang="en-US" sz="3244">
                <a:solidFill>
                  <a:srgbClr val="051D40"/>
                </a:solidFill>
                <a:latin typeface="Poppins"/>
                <a:ea typeface="Poppins"/>
                <a:cs typeface="Poppins"/>
                <a:sym typeface="Poppins"/>
              </a:rPr>
              <a:t>The system shall send notifications to brokers for new interactions.</a:t>
            </a:r>
          </a:p>
          <a:p>
            <a:pPr marL="700555" lvl="1" indent="-350277" algn="l">
              <a:lnSpc>
                <a:spcPts val="4542"/>
              </a:lnSpc>
              <a:buFont typeface="Arial"/>
              <a:buChar char="•"/>
            </a:pPr>
            <a:r>
              <a:rPr lang="en-US" sz="3244">
                <a:solidFill>
                  <a:srgbClr val="051D40"/>
                </a:solidFill>
                <a:latin typeface="Poppins"/>
                <a:ea typeface="Poppins"/>
                <a:cs typeface="Poppins"/>
                <a:sym typeface="Poppins"/>
              </a:rPr>
              <a:t>The system shall allow admins to manage users and properties.</a:t>
            </a:r>
          </a:p>
          <a:p>
            <a:pPr marL="700555" lvl="1" indent="-350277" algn="l">
              <a:lnSpc>
                <a:spcPts val="4542"/>
              </a:lnSpc>
              <a:buFont typeface="Arial"/>
              <a:buChar char="•"/>
            </a:pPr>
            <a:r>
              <a:rPr lang="en-US" sz="3244">
                <a:solidFill>
                  <a:srgbClr val="051D40"/>
                </a:solidFill>
                <a:latin typeface="Poppins"/>
                <a:ea typeface="Poppins"/>
                <a:cs typeface="Poppins"/>
                <a:sym typeface="Poppins"/>
              </a:rPr>
              <a:t>The system shall understand client requirements using AI.</a:t>
            </a:r>
          </a:p>
          <a:p>
            <a:pPr marL="700555" lvl="1" indent="-350277" algn="l">
              <a:lnSpc>
                <a:spcPts val="4542"/>
              </a:lnSpc>
              <a:buFont typeface="Arial"/>
              <a:buChar char="•"/>
            </a:pPr>
            <a:r>
              <a:rPr lang="en-US" sz="3244">
                <a:solidFill>
                  <a:srgbClr val="051D40"/>
                </a:solidFill>
                <a:latin typeface="Poppins"/>
                <a:ea typeface="Poppins"/>
                <a:cs typeface="Poppins"/>
                <a:sym typeface="Poppins"/>
              </a:rPr>
              <a:t>The system shall recommend matching or similar properties.</a:t>
            </a:r>
          </a:p>
          <a:p>
            <a:pPr algn="l">
              <a:lnSpc>
                <a:spcPts val="4542"/>
              </a:lnSpc>
            </a:pPr>
            <a:endParaRPr lang="en-US" sz="3244">
              <a:solidFill>
                <a:srgbClr val="051D40"/>
              </a:solidFill>
              <a:latin typeface="Poppins"/>
              <a:ea typeface="Poppins"/>
              <a:cs typeface="Poppins"/>
              <a:sym typeface="Poppi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grpSp>
        <p:nvGrpSpPr>
          <p:cNvPr id="2" name="Group 2"/>
          <p:cNvGrpSpPr/>
          <p:nvPr/>
        </p:nvGrpSpPr>
        <p:grpSpPr>
          <a:xfrm>
            <a:off x="-3768924" y="6735187"/>
            <a:ext cx="9460517" cy="946051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377858" y="7663815"/>
            <a:ext cx="5246370" cy="524637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t="-42503" b="-7309"/>
              </a:stretch>
            </a:blipFill>
          </p:spPr>
        </p:sp>
      </p:grpSp>
      <p:sp>
        <p:nvSpPr>
          <p:cNvPr id="7" name="Freeform 7"/>
          <p:cNvSpPr/>
          <p:nvPr/>
        </p:nvSpPr>
        <p:spPr>
          <a:xfrm rot="-1368171">
            <a:off x="8036856" y="3362764"/>
            <a:ext cx="8325708" cy="7947266"/>
          </a:xfrm>
          <a:custGeom>
            <a:avLst/>
            <a:gdLst/>
            <a:ahLst/>
            <a:cxnLst/>
            <a:rect l="l" t="t" r="r" b="b"/>
            <a:pathLst>
              <a:path w="8325708" h="7947266">
                <a:moveTo>
                  <a:pt x="0" y="0"/>
                </a:moveTo>
                <a:lnTo>
                  <a:pt x="8325708" y="0"/>
                </a:lnTo>
                <a:lnTo>
                  <a:pt x="8325708" y="7947266"/>
                </a:lnTo>
                <a:lnTo>
                  <a:pt x="0" y="7947266"/>
                </a:lnTo>
                <a:lnTo>
                  <a:pt x="0" y="0"/>
                </a:lnTo>
                <a:close/>
              </a:path>
            </a:pathLst>
          </a:custGeom>
          <a:blipFill>
            <a:blip>
              <a:alphaModFix amt="7999"/>
              <a:extLst>
                <a:ext uri="{96DAC541-7B7A-43D3-8B79-37D633B846F1}">
                  <asvg:svgBlip xmlns:asvg="http://schemas.microsoft.com/office/drawing/2016/SVG/main" r:embed="rId3"/>
                </a:ext>
              </a:extLst>
            </a:blip>
            <a:stretch>
              <a:fillRect/>
            </a:stretch>
          </a:blipFill>
        </p:spPr>
      </p:sp>
      <p:grpSp>
        <p:nvGrpSpPr>
          <p:cNvPr id="8" name="Group 8"/>
          <p:cNvGrpSpPr/>
          <p:nvPr/>
        </p:nvGrpSpPr>
        <p:grpSpPr>
          <a:xfrm>
            <a:off x="12596407" y="-5908704"/>
            <a:ext cx="9460517" cy="9460517"/>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2663772" y="-2623185"/>
            <a:ext cx="5246370" cy="5246370"/>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b="-49719"/>
              </a:stretch>
            </a:blipFill>
          </p:spPr>
        </p:sp>
      </p:grpSp>
      <p:sp>
        <p:nvSpPr>
          <p:cNvPr id="13" name="Freeform 13"/>
          <p:cNvSpPr/>
          <p:nvPr/>
        </p:nvSpPr>
        <p:spPr>
          <a:xfrm>
            <a:off x="16978565" y="-830978"/>
            <a:ext cx="6435168" cy="5709749"/>
          </a:xfrm>
          <a:custGeom>
            <a:avLst/>
            <a:gdLst/>
            <a:ahLst/>
            <a:cxnLst/>
            <a:rect l="l" t="t" r="r" b="b"/>
            <a:pathLst>
              <a:path w="6435168" h="5709749">
                <a:moveTo>
                  <a:pt x="0" y="0"/>
                </a:moveTo>
                <a:lnTo>
                  <a:pt x="6435169" y="0"/>
                </a:lnTo>
                <a:lnTo>
                  <a:pt x="6435169" y="5709749"/>
                </a:lnTo>
                <a:lnTo>
                  <a:pt x="0" y="5709749"/>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Freeform 14"/>
          <p:cNvSpPr/>
          <p:nvPr/>
        </p:nvSpPr>
        <p:spPr>
          <a:xfrm>
            <a:off x="-5252387" y="5143500"/>
            <a:ext cx="6435168" cy="5709749"/>
          </a:xfrm>
          <a:custGeom>
            <a:avLst/>
            <a:gdLst/>
            <a:ahLst/>
            <a:cxnLst/>
            <a:rect l="l" t="t" r="r" b="b"/>
            <a:pathLst>
              <a:path w="6435168" h="5709749">
                <a:moveTo>
                  <a:pt x="0" y="0"/>
                </a:moveTo>
                <a:lnTo>
                  <a:pt x="6435168" y="0"/>
                </a:lnTo>
                <a:lnTo>
                  <a:pt x="6435168" y="5709749"/>
                </a:lnTo>
                <a:lnTo>
                  <a:pt x="0" y="5709749"/>
                </a:lnTo>
                <a:lnTo>
                  <a:pt x="0" y="0"/>
                </a:lnTo>
                <a:close/>
              </a:path>
            </a:pathLst>
          </a:custGeom>
          <a:blipFill>
            <a:blip>
              <a:extLst>
                <a:ext uri="{96DAC541-7B7A-43D3-8B79-37D633B846F1}">
                  <asvg:svgBlip xmlns:asvg="http://schemas.microsoft.com/office/drawing/2016/SVG/main" r:embed="rId5"/>
                </a:ext>
              </a:extLst>
            </a:blip>
            <a:stretch>
              <a:fillRect/>
            </a:stretch>
          </a:blipFill>
        </p:spPr>
      </p:sp>
      <p:graphicFrame>
        <p:nvGraphicFramePr>
          <p:cNvPr id="15" name="Table 15"/>
          <p:cNvGraphicFramePr>
            <a:graphicFrameLocks noGrp="1"/>
          </p:cNvGraphicFramePr>
          <p:nvPr/>
        </p:nvGraphicFramePr>
        <p:xfrm>
          <a:off x="5423073" y="3491865"/>
          <a:ext cx="7315200" cy="5229225"/>
        </p:xfrm>
        <a:graphic>
          <a:graphicData uri="http://schemas.openxmlformats.org/drawingml/2006/table">
            <a:tbl>
              <a:tblPr/>
              <a:tblGrid>
                <a:gridCol w="36576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1045845">
                <a:tc>
                  <a:txBody>
                    <a:bodyPr/>
                    <a:lstStyle/>
                    <a:p>
                      <a:pPr algn="ctr">
                        <a:lnSpc>
                          <a:spcPts val="4199"/>
                        </a:lnSpc>
                        <a:defRPr/>
                      </a:pPr>
                      <a:r>
                        <a:rPr lang="en-US" sz="2999" b="1">
                          <a:solidFill>
                            <a:srgbClr val="000000"/>
                          </a:solidFill>
                          <a:latin typeface="Open Sans Bold"/>
                          <a:ea typeface="Open Sans Bold"/>
                          <a:cs typeface="Open Sans Bold"/>
                          <a:sym typeface="Open Sans Bold"/>
                        </a:rPr>
                        <a:t>Frontend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a:solidFill>
                            <a:srgbClr val="000000"/>
                          </a:solidFill>
                          <a:latin typeface="Open Sans Bold"/>
                          <a:ea typeface="Open Sans Bold"/>
                          <a:cs typeface="Open Sans Bold"/>
                          <a:sym typeface="Open Sans Bold"/>
                        </a:rPr>
                        <a:t>React.js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45845">
                <a:tc>
                  <a:txBody>
                    <a:bodyPr/>
                    <a:lstStyle/>
                    <a:p>
                      <a:pPr algn="ctr">
                        <a:lnSpc>
                          <a:spcPts val="4199"/>
                        </a:lnSpc>
                        <a:defRPr/>
                      </a:pPr>
                      <a:r>
                        <a:rPr lang="en-US" sz="2999" b="1">
                          <a:solidFill>
                            <a:srgbClr val="000000"/>
                          </a:solidFill>
                          <a:latin typeface="Open Sans Bold"/>
                          <a:ea typeface="Open Sans Bold"/>
                          <a:cs typeface="Open Sans Bold"/>
                          <a:sym typeface="Open Sans Bold"/>
                        </a:rPr>
                        <a:t>Backend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779"/>
                        </a:lnSpc>
                        <a:defRPr/>
                      </a:pPr>
                      <a:r>
                        <a:rPr lang="en-US" sz="2699" b="1">
                          <a:solidFill>
                            <a:srgbClr val="000000"/>
                          </a:solidFill>
                          <a:latin typeface="Open Sans Bold"/>
                          <a:ea typeface="Open Sans Bold"/>
                          <a:cs typeface="Open Sans Bold"/>
                          <a:sym typeface="Open Sans Bold"/>
                        </a:rPr>
                        <a:t>Node.js, Express.js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45845">
                <a:tc>
                  <a:txBody>
                    <a:bodyPr/>
                    <a:lstStyle/>
                    <a:p>
                      <a:pPr algn="ctr">
                        <a:lnSpc>
                          <a:spcPts val="4199"/>
                        </a:lnSpc>
                        <a:defRPr/>
                      </a:pPr>
                      <a:r>
                        <a:rPr lang="en-US" sz="2999" b="1">
                          <a:solidFill>
                            <a:srgbClr val="000000"/>
                          </a:solidFill>
                          <a:latin typeface="Open Sans Bold"/>
                          <a:ea typeface="Open Sans Bold"/>
                          <a:cs typeface="Open Sans Bold"/>
                          <a:sym typeface="Open Sans Bold"/>
                        </a:rPr>
                        <a:t>Database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a:solidFill>
                            <a:srgbClr val="000000"/>
                          </a:solidFill>
                          <a:latin typeface="Open Sans Bold"/>
                          <a:ea typeface="Open Sans Bold"/>
                          <a:cs typeface="Open Sans Bold"/>
                          <a:sym typeface="Open Sans Bold"/>
                        </a:rPr>
                        <a:t>MySQL</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45845">
                <a:tc>
                  <a:txBody>
                    <a:bodyPr/>
                    <a:lstStyle/>
                    <a:p>
                      <a:pPr algn="ctr">
                        <a:lnSpc>
                          <a:spcPts val="3779"/>
                        </a:lnSpc>
                        <a:defRPr/>
                      </a:pPr>
                      <a:r>
                        <a:rPr lang="en-US" sz="2699" b="1">
                          <a:solidFill>
                            <a:srgbClr val="000000"/>
                          </a:solidFill>
                          <a:latin typeface="Open Sans Bold"/>
                          <a:ea typeface="Open Sans Bold"/>
                          <a:cs typeface="Open Sans Bold"/>
                          <a:sym typeface="Open Sans Bold"/>
                        </a:rPr>
                        <a:t>Containerization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a:solidFill>
                            <a:srgbClr val="000000"/>
                          </a:solidFill>
                          <a:latin typeface="Open Sans Bold"/>
                          <a:ea typeface="Open Sans Bold"/>
                          <a:cs typeface="Open Sans Bold"/>
                          <a:sym typeface="Open Sans Bold"/>
                        </a:rPr>
                        <a:t>Docker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45845">
                <a:tc>
                  <a:txBody>
                    <a:bodyPr/>
                    <a:lstStyle/>
                    <a:p>
                      <a:pPr algn="ctr">
                        <a:lnSpc>
                          <a:spcPts val="4199"/>
                        </a:lnSpc>
                        <a:defRPr/>
                      </a:pPr>
                      <a:r>
                        <a:rPr lang="en-US" sz="2999" b="1">
                          <a:solidFill>
                            <a:srgbClr val="000000"/>
                          </a:solidFill>
                          <a:latin typeface="Open Sans Bold"/>
                          <a:ea typeface="Open Sans Bold"/>
                          <a:cs typeface="Open Sans Bold"/>
                          <a:sym typeface="Open Sans Bold"/>
                        </a:rPr>
                        <a:t>Tools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4199"/>
                        </a:lnSpc>
                        <a:defRPr/>
                      </a:pPr>
                      <a:r>
                        <a:rPr lang="en-US" sz="2999" b="1">
                          <a:solidFill>
                            <a:srgbClr val="000000"/>
                          </a:solidFill>
                          <a:latin typeface="Open Sans Bold"/>
                          <a:ea typeface="Open Sans Bold"/>
                          <a:cs typeface="Open Sans Bold"/>
                          <a:sym typeface="Open Sans Bold"/>
                        </a:rPr>
                        <a:t>Git/GitHub</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6" name="TextBox 16"/>
          <p:cNvSpPr txBox="1"/>
          <p:nvPr/>
        </p:nvSpPr>
        <p:spPr>
          <a:xfrm>
            <a:off x="5987464" y="1179427"/>
            <a:ext cx="6313072" cy="1761078"/>
          </a:xfrm>
          <a:prstGeom prst="rect">
            <a:avLst/>
          </a:prstGeom>
        </p:spPr>
        <p:txBody>
          <a:bodyPr lIns="0" tIns="0" rIns="0" bIns="0" rtlCol="0" anchor="t">
            <a:spAutoFit/>
          </a:bodyPr>
          <a:lstStyle/>
          <a:p>
            <a:pPr algn="ctr">
              <a:lnSpc>
                <a:spcPts val="6606"/>
              </a:lnSpc>
            </a:pPr>
            <a:r>
              <a:rPr lang="en-US" sz="6061" b="1">
                <a:solidFill>
                  <a:srgbClr val="051D40"/>
                </a:solidFill>
                <a:latin typeface="Poppins Bold"/>
                <a:ea typeface="Poppins Bold"/>
                <a:cs typeface="Poppins Bold"/>
                <a:sym typeface="Poppins Bold"/>
              </a:rPr>
              <a:t>TOOLS AND TECHNOLOGIES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grpSp>
        <p:nvGrpSpPr>
          <p:cNvPr id="2" name="Group 2"/>
          <p:cNvGrpSpPr/>
          <p:nvPr/>
        </p:nvGrpSpPr>
        <p:grpSpPr>
          <a:xfrm>
            <a:off x="-3768924" y="6735187"/>
            <a:ext cx="9460517" cy="946051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rot="-1368171">
            <a:off x="8990179" y="3362764"/>
            <a:ext cx="8325708" cy="7947266"/>
          </a:xfrm>
          <a:custGeom>
            <a:avLst/>
            <a:gdLst/>
            <a:ahLst/>
            <a:cxnLst/>
            <a:rect l="l" t="t" r="r" b="b"/>
            <a:pathLst>
              <a:path w="8325708" h="7947266">
                <a:moveTo>
                  <a:pt x="0" y="0"/>
                </a:moveTo>
                <a:lnTo>
                  <a:pt x="8325708" y="0"/>
                </a:lnTo>
                <a:lnTo>
                  <a:pt x="8325708" y="7947266"/>
                </a:lnTo>
                <a:lnTo>
                  <a:pt x="0" y="7947266"/>
                </a:lnTo>
                <a:lnTo>
                  <a:pt x="0" y="0"/>
                </a:lnTo>
                <a:close/>
              </a:path>
            </a:pathLst>
          </a:custGeom>
          <a:blipFill>
            <a:blip>
              <a:alphaModFix amt="8999"/>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12596407" y="-5908704"/>
            <a:ext cx="9460517" cy="946051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6697199" y="1028700"/>
            <a:ext cx="5359726" cy="4755538"/>
          </a:xfrm>
          <a:custGeom>
            <a:avLst/>
            <a:gdLst/>
            <a:ahLst/>
            <a:cxnLst/>
            <a:rect l="l" t="t" r="r" b="b"/>
            <a:pathLst>
              <a:path w="5359726" h="4755538">
                <a:moveTo>
                  <a:pt x="0" y="0"/>
                </a:moveTo>
                <a:lnTo>
                  <a:pt x="5359725" y="0"/>
                </a:lnTo>
                <a:lnTo>
                  <a:pt x="5359725" y="4755538"/>
                </a:lnTo>
                <a:lnTo>
                  <a:pt x="0" y="475553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3768924" y="6446453"/>
            <a:ext cx="5359726" cy="4755538"/>
          </a:xfrm>
          <a:custGeom>
            <a:avLst/>
            <a:gdLst/>
            <a:ahLst/>
            <a:cxnLst/>
            <a:rect l="l" t="t" r="r" b="b"/>
            <a:pathLst>
              <a:path w="5359726" h="4755538">
                <a:moveTo>
                  <a:pt x="0" y="0"/>
                </a:moveTo>
                <a:lnTo>
                  <a:pt x="5359725" y="0"/>
                </a:lnTo>
                <a:lnTo>
                  <a:pt x="5359725" y="4755538"/>
                </a:lnTo>
                <a:lnTo>
                  <a:pt x="0" y="4755538"/>
                </a:lnTo>
                <a:lnTo>
                  <a:pt x="0" y="0"/>
                </a:lnTo>
                <a:close/>
              </a:path>
            </a:pathLst>
          </a:custGeom>
          <a:blipFill>
            <a:blip>
              <a:extLst>
                <a:ext uri="{96DAC541-7B7A-43D3-8B79-37D633B846F1}">
                  <asvg:svgBlip xmlns:asvg="http://schemas.microsoft.com/office/drawing/2016/SVG/main" r:embed="rId3"/>
                </a:ext>
              </a:extLst>
            </a:blip>
            <a:stretch>
              <a:fillRect/>
            </a:stretch>
          </a:blipFill>
        </p:spPr>
      </p:sp>
      <p:graphicFrame>
        <p:nvGraphicFramePr>
          <p:cNvPr id="11" name="Table 11"/>
          <p:cNvGraphicFramePr>
            <a:graphicFrameLocks noGrp="1"/>
          </p:cNvGraphicFramePr>
          <p:nvPr/>
        </p:nvGraphicFramePr>
        <p:xfrm>
          <a:off x="1446508" y="2884697"/>
          <a:ext cx="14792134" cy="7112771"/>
        </p:xfrm>
        <a:graphic>
          <a:graphicData uri="http://schemas.openxmlformats.org/drawingml/2006/table">
            <a:tbl>
              <a:tblPr/>
              <a:tblGrid>
                <a:gridCol w="2048913">
                  <a:extLst>
                    <a:ext uri="{9D8B030D-6E8A-4147-A177-3AD203B41FA5}">
                      <a16:colId xmlns:a16="http://schemas.microsoft.com/office/drawing/2014/main" val="20000"/>
                    </a:ext>
                  </a:extLst>
                </a:gridCol>
                <a:gridCol w="12743221">
                  <a:extLst>
                    <a:ext uri="{9D8B030D-6E8A-4147-A177-3AD203B41FA5}">
                      <a16:colId xmlns:a16="http://schemas.microsoft.com/office/drawing/2014/main" val="20001"/>
                    </a:ext>
                  </a:extLst>
                </a:gridCol>
              </a:tblGrid>
              <a:tr h="986358">
                <a:tc>
                  <a:txBody>
                    <a:bodyPr/>
                    <a:lstStyle/>
                    <a:p>
                      <a:pPr algn="ctr">
                        <a:lnSpc>
                          <a:spcPts val="3779"/>
                        </a:lnSpc>
                        <a:defRPr/>
                      </a:pPr>
                      <a:r>
                        <a:rPr lang="en-US" sz="2699">
                          <a:solidFill>
                            <a:srgbClr val="000000"/>
                          </a:solidFill>
                          <a:latin typeface="Open Sans"/>
                          <a:ea typeface="Open Sans"/>
                          <a:cs typeface="Open Sans"/>
                          <a:sym typeface="Open Sans"/>
                        </a:rPr>
                        <a:t>Week 1–2</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Open Sans"/>
                          <a:ea typeface="Open Sans"/>
                          <a:cs typeface="Open Sans"/>
                          <a:sym typeface="Open Sans"/>
                        </a:rPr>
                        <a:t>Project setup, database, backend, frontend, and environment configuration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04303">
                <a:tc>
                  <a:txBody>
                    <a:bodyPr/>
                    <a:lstStyle/>
                    <a:p>
                      <a:pPr algn="ctr">
                        <a:lnSpc>
                          <a:spcPts val="3779"/>
                        </a:lnSpc>
                        <a:defRPr/>
                      </a:pPr>
                      <a:r>
                        <a:rPr lang="en-US" sz="2699">
                          <a:solidFill>
                            <a:srgbClr val="000000"/>
                          </a:solidFill>
                          <a:latin typeface="Open Sans"/>
                          <a:ea typeface="Open Sans"/>
                          <a:cs typeface="Open Sans"/>
                          <a:sym typeface="Open Sans"/>
                        </a:rPr>
                        <a:t>Week 3–4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Open Sans"/>
                          <a:ea typeface="Open Sans"/>
                          <a:cs typeface="Open Sans"/>
                          <a:sym typeface="Open Sans"/>
                        </a:rPr>
                        <a:t>Authentication, role management, property CRUD, search, filters, and details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29073">
                <a:tc>
                  <a:txBody>
                    <a:bodyPr/>
                    <a:lstStyle/>
                    <a:p>
                      <a:pPr algn="ctr">
                        <a:lnSpc>
                          <a:spcPts val="3779"/>
                        </a:lnSpc>
                        <a:defRPr/>
                      </a:pPr>
                      <a:r>
                        <a:rPr lang="en-US" sz="2699">
                          <a:solidFill>
                            <a:srgbClr val="000000"/>
                          </a:solidFill>
                          <a:latin typeface="Open Sans"/>
                          <a:ea typeface="Open Sans"/>
                          <a:cs typeface="Open Sans"/>
                          <a:sym typeface="Open Sans"/>
                        </a:rPr>
                        <a:t>Week 5–6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endParaRPr lang="en-US" sz="1100"/>
                    </a:p>
                    <a:p>
                      <a:pPr algn="l">
                        <a:lnSpc>
                          <a:spcPts val="3499"/>
                        </a:lnSpc>
                      </a:pPr>
                      <a:r>
                        <a:rPr lang="en-US" sz="2499">
                          <a:solidFill>
                            <a:srgbClr val="000000"/>
                          </a:solidFill>
                          <a:latin typeface="Open Sans"/>
                          <a:ea typeface="Open Sans"/>
                          <a:cs typeface="Open Sans"/>
                          <a:sym typeface="Open Sans"/>
                        </a:rPr>
                        <a:t>Premium homepage, property orbit, responsive UI, broker profiles, and animations</a:t>
                      </a:r>
                    </a:p>
                    <a:p>
                      <a:pPr algn="l">
                        <a:lnSpc>
                          <a:spcPts val="3499"/>
                        </a:lnSpc>
                      </a:pPr>
                      <a:endParaRPr lang="en-US" sz="2499">
                        <a:solidFill>
                          <a:srgbClr val="000000"/>
                        </a:solidFill>
                        <a:latin typeface="Open Sans"/>
                        <a:ea typeface="Open Sans"/>
                        <a:cs typeface="Open Sans"/>
                        <a:sym typeface="Open Sans"/>
                      </a:endParaRPr>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004303">
                <a:tc>
                  <a:txBody>
                    <a:bodyPr/>
                    <a:lstStyle/>
                    <a:p>
                      <a:pPr algn="ctr">
                        <a:lnSpc>
                          <a:spcPts val="3779"/>
                        </a:lnSpc>
                        <a:defRPr/>
                      </a:pPr>
                      <a:r>
                        <a:rPr lang="en-US" sz="2699">
                          <a:solidFill>
                            <a:srgbClr val="000000"/>
                          </a:solidFill>
                          <a:latin typeface="Open Sans"/>
                          <a:ea typeface="Open Sans"/>
                          <a:cs typeface="Open Sans"/>
                          <a:sym typeface="Open Sans"/>
                        </a:rPr>
                        <a:t>Week 7–8</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Open Sans"/>
                          <a:ea typeface="Open Sans"/>
                          <a:cs typeface="Open Sans"/>
                          <a:sym typeface="Open Sans"/>
                        </a:rPr>
                        <a:t>Comments, messaging, favorites, reviews, and email notifications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986358">
                <a:tc>
                  <a:txBody>
                    <a:bodyPr/>
                    <a:lstStyle/>
                    <a:p>
                      <a:pPr algn="ctr">
                        <a:lnSpc>
                          <a:spcPts val="3779"/>
                        </a:lnSpc>
                        <a:defRPr/>
                      </a:pPr>
                      <a:r>
                        <a:rPr lang="en-US" sz="2699">
                          <a:solidFill>
                            <a:srgbClr val="000000"/>
                          </a:solidFill>
                          <a:latin typeface="Open Sans"/>
                          <a:ea typeface="Open Sans"/>
                          <a:cs typeface="Open Sans"/>
                          <a:sym typeface="Open Sans"/>
                        </a:rPr>
                        <a:t>Week 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Open Sans"/>
                          <a:ea typeface="Open Sans"/>
                          <a:cs typeface="Open Sans"/>
                          <a:sym typeface="Open Sans"/>
                        </a:rPr>
                        <a:t>EstateAI assistant and similar-property recommendation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302376">
                <a:tc>
                  <a:txBody>
                    <a:bodyPr/>
                    <a:lstStyle/>
                    <a:p>
                      <a:pPr algn="ctr">
                        <a:lnSpc>
                          <a:spcPts val="3219"/>
                        </a:lnSpc>
                        <a:defRPr/>
                      </a:pPr>
                      <a:r>
                        <a:rPr lang="en-US" sz="2299">
                          <a:solidFill>
                            <a:srgbClr val="000000"/>
                          </a:solidFill>
                          <a:latin typeface="Open Sans"/>
                          <a:ea typeface="Open Sans"/>
                          <a:cs typeface="Open Sans"/>
                          <a:sym typeface="Open Sans"/>
                        </a:rPr>
                        <a:t>Week 10–11</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l">
                        <a:lnSpc>
                          <a:spcPts val="3499"/>
                        </a:lnSpc>
                        <a:defRPr/>
                      </a:pPr>
                      <a:r>
                        <a:rPr lang="en-US" sz="2499">
                          <a:solidFill>
                            <a:srgbClr val="000000"/>
                          </a:solidFill>
                          <a:latin typeface="Open Sans"/>
                          <a:ea typeface="Open Sans"/>
                          <a:cs typeface="Open Sans"/>
                          <a:sym typeface="Open Sans"/>
                        </a:rPr>
                        <a:t>Admin dashboard, moderation, testing, documentation, and Docker support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TextBox 12"/>
          <p:cNvSpPr txBox="1"/>
          <p:nvPr/>
        </p:nvSpPr>
        <p:spPr>
          <a:xfrm>
            <a:off x="3366967" y="887065"/>
            <a:ext cx="10628862" cy="1761078"/>
          </a:xfrm>
          <a:prstGeom prst="rect">
            <a:avLst/>
          </a:prstGeom>
        </p:spPr>
        <p:txBody>
          <a:bodyPr lIns="0" tIns="0" rIns="0" bIns="0" rtlCol="0" anchor="t">
            <a:spAutoFit/>
          </a:bodyPr>
          <a:lstStyle/>
          <a:p>
            <a:pPr algn="ctr">
              <a:lnSpc>
                <a:spcPts val="6606"/>
              </a:lnSpc>
            </a:pPr>
            <a:r>
              <a:rPr lang="en-US" sz="6061" b="1">
                <a:solidFill>
                  <a:srgbClr val="051D40"/>
                </a:solidFill>
                <a:latin typeface="Poppins Bold"/>
                <a:ea typeface="Poppins Bold"/>
                <a:cs typeface="Poppins Bold"/>
                <a:sym typeface="Poppins Bold"/>
              </a:rPr>
              <a:t>PROJECT TIMELINE AND WORK PLAN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6FC"/>
        </a:solidFill>
        <a:effectLst/>
      </p:bgPr>
    </p:bg>
    <p:spTree>
      <p:nvGrpSpPr>
        <p:cNvPr id="1" name=""/>
        <p:cNvGrpSpPr/>
        <p:nvPr/>
      </p:nvGrpSpPr>
      <p:grpSpPr>
        <a:xfrm>
          <a:off x="0" y="0"/>
          <a:ext cx="0" cy="0"/>
          <a:chOff x="0" y="0"/>
          <a:chExt cx="0" cy="0"/>
        </a:xfrm>
      </p:grpSpPr>
      <p:sp>
        <p:nvSpPr>
          <p:cNvPr id="2" name="Freeform 2"/>
          <p:cNvSpPr/>
          <p:nvPr/>
        </p:nvSpPr>
        <p:spPr>
          <a:xfrm rot="-1368171">
            <a:off x="2537321" y="2532154"/>
            <a:ext cx="8325708" cy="7947266"/>
          </a:xfrm>
          <a:custGeom>
            <a:avLst/>
            <a:gdLst/>
            <a:ahLst/>
            <a:cxnLst/>
            <a:rect l="l" t="t" r="r" b="b"/>
            <a:pathLst>
              <a:path w="8325708" h="7947266">
                <a:moveTo>
                  <a:pt x="0" y="0"/>
                </a:moveTo>
                <a:lnTo>
                  <a:pt x="8325707" y="0"/>
                </a:lnTo>
                <a:lnTo>
                  <a:pt x="8325707" y="7947267"/>
                </a:lnTo>
                <a:lnTo>
                  <a:pt x="0" y="7947267"/>
                </a:lnTo>
                <a:lnTo>
                  <a:pt x="0" y="0"/>
                </a:lnTo>
                <a:close/>
              </a:path>
            </a:pathLst>
          </a:custGeom>
          <a:blipFill>
            <a:blip>
              <a:alphaModFix amt="8999"/>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12077703" y="3366867"/>
            <a:ext cx="9460517" cy="9460517"/>
            <a:chOff x="0" y="0"/>
            <a:chExt cx="812800" cy="812800"/>
          </a:xfrm>
        </p:grpSpPr>
        <p:sp>
          <p:nvSpPr>
            <p:cNvPr id="4" name="Freeform 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5" name="TextBox 5"/>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9168318" y="-2824047"/>
            <a:ext cx="3852747" cy="3852747"/>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9" name="Freeform 9"/>
          <p:cNvSpPr/>
          <p:nvPr/>
        </p:nvSpPr>
        <p:spPr>
          <a:xfrm>
            <a:off x="16851686" y="2858315"/>
            <a:ext cx="4637582" cy="4114800"/>
          </a:xfrm>
          <a:custGeom>
            <a:avLst/>
            <a:gdLst/>
            <a:ahLst/>
            <a:cxnLst/>
            <a:rect l="l" t="t" r="r" b="b"/>
            <a:pathLst>
              <a:path w="4637582" h="4114800">
                <a:moveTo>
                  <a:pt x="0" y="0"/>
                </a:moveTo>
                <a:lnTo>
                  <a:pt x="4637582" y="0"/>
                </a:lnTo>
                <a:lnTo>
                  <a:pt x="463758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10349506" y="-3086100"/>
            <a:ext cx="4637582" cy="4114800"/>
          </a:xfrm>
          <a:custGeom>
            <a:avLst/>
            <a:gdLst/>
            <a:ahLst/>
            <a:cxnLst/>
            <a:rect l="l" t="t" r="r" b="b"/>
            <a:pathLst>
              <a:path w="4637582" h="4114800">
                <a:moveTo>
                  <a:pt x="0" y="0"/>
                </a:moveTo>
                <a:lnTo>
                  <a:pt x="4637582" y="0"/>
                </a:lnTo>
                <a:lnTo>
                  <a:pt x="463758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1292181" y="-648104"/>
            <a:ext cx="5791604" cy="5791604"/>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4AAD"/>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14" name="TextBox 14"/>
          <p:cNvSpPr txBox="1"/>
          <p:nvPr/>
        </p:nvSpPr>
        <p:spPr>
          <a:xfrm>
            <a:off x="4319001" y="3085598"/>
            <a:ext cx="7052696" cy="4125328"/>
          </a:xfrm>
          <a:prstGeom prst="rect">
            <a:avLst/>
          </a:prstGeom>
        </p:spPr>
        <p:txBody>
          <a:bodyPr lIns="0" tIns="0" rIns="0" bIns="0" rtlCol="0" anchor="t">
            <a:spAutoFit/>
          </a:bodyPr>
          <a:lstStyle/>
          <a:p>
            <a:pPr algn="l">
              <a:lnSpc>
                <a:spcPts val="15543"/>
              </a:lnSpc>
            </a:pPr>
            <a:r>
              <a:rPr lang="en-US" sz="14259" b="1">
                <a:solidFill>
                  <a:srgbClr val="051D40"/>
                </a:solidFill>
                <a:latin typeface="Poppins Bold"/>
                <a:ea typeface="Poppins Bold"/>
                <a:cs typeface="Poppins Bold"/>
                <a:sym typeface="Poppins Bold"/>
              </a:rPr>
              <a:t>THANK YOU</a:t>
            </a:r>
          </a:p>
        </p:txBody>
      </p:sp>
      <p:sp>
        <p:nvSpPr>
          <p:cNvPr id="15" name="Freeform 15"/>
          <p:cNvSpPr/>
          <p:nvPr/>
        </p:nvSpPr>
        <p:spPr>
          <a:xfrm>
            <a:off x="-3031172" y="2417472"/>
            <a:ext cx="5134435" cy="4555644"/>
          </a:xfrm>
          <a:custGeom>
            <a:avLst/>
            <a:gdLst/>
            <a:ahLst/>
            <a:cxnLst/>
            <a:rect l="l" t="t" r="r" b="b"/>
            <a:pathLst>
              <a:path w="5134435" h="4555644">
                <a:moveTo>
                  <a:pt x="0" y="0"/>
                </a:moveTo>
                <a:lnTo>
                  <a:pt x="5134434" y="0"/>
                </a:lnTo>
                <a:lnTo>
                  <a:pt x="5134434" y="4555643"/>
                </a:lnTo>
                <a:lnTo>
                  <a:pt x="0" y="4555643"/>
                </a:lnTo>
                <a:lnTo>
                  <a:pt x="0" y="0"/>
                </a:lnTo>
                <a:close/>
              </a:path>
            </a:pathLst>
          </a:custGeom>
          <a:blipFill>
            <a:blip>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386</Words>
  <Application>Microsoft Office PowerPoint</Application>
  <PresentationFormat>Custom</PresentationFormat>
  <Paragraphs>53</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Open Sans</vt:lpstr>
      <vt:lpstr>Poppins</vt:lpstr>
      <vt:lpstr>Arial</vt:lpstr>
      <vt:lpstr>Poppins Bold</vt:lpstr>
      <vt:lpstr>Open Sans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EstateHub — Smart Real Estate Marketplace</dc:title>
  <cp:lastModifiedBy>mahamud un nabi</cp:lastModifiedBy>
  <cp:revision>1</cp:revision>
  <dcterms:created xsi:type="dcterms:W3CDTF">2006-08-16T00:00:00Z</dcterms:created>
  <dcterms:modified xsi:type="dcterms:W3CDTF">2026-10-03T14:46:39Z</dcterms:modified>
  <dc:identifier>DAHW9fFQbDc</dc:identifier>
</cp:coreProperties>
</file>